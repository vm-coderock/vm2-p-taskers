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6309360"/>
            <a:ext cx="4416552" cy="54864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EXECUTIVE PRESENTATION  |  PREPARED FOR ICE/SEVP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SEVP Innovation Lab + Knowledge Management AI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B8C9D9"/>
                </a:solidFill>
                <a:latin typeface="Georgia"/>
              </a:rPr>
              <a:t>Building federal AI capability that compounds — from one MVP to an enduring institutional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7315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8C9D9"/>
                </a:solidFill>
                <a:latin typeface="Calibri"/>
              </a:rPr>
              <a:t>Prepared for: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ICE / SEVP Executive Leadership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8C9D9"/>
                </a:solidFill>
                <a:latin typeface="Calibri"/>
              </a:rPr>
              <a:t>Prepared by: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Varun Malhotra, President — Changeis, Inc.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8C9D9"/>
                </a:solidFill>
                <a:latin typeface="Calibri"/>
              </a:rPr>
              <a:t>In partnership with: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Perplexity Computer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8C9D9"/>
                </a:solidFill>
                <a:latin typeface="Calibri"/>
              </a:rPr>
              <a:t>Date: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A focused 12-week MVP can convert SEVP institutional knowledge into a compounding AI capability — at $450–650K and FedRAMP-High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Three columns: where SEVP is today, what we propose, and what the agency gets in 90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36776"/>
            <a:ext cx="34747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47471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The 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749039" cy="406908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377440"/>
            <a:ext cx="73152" cy="73152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Mission-critical knowledge spread across SharePoint, Confluence, JIRA, Study-in-the-State, and email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3145536"/>
            <a:ext cx="73152" cy="73152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054096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Workforce attrition risks loss of decades of policy and case-handling tacit knowledge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3913632"/>
            <a:ext cx="73152" cy="73152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2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New SEVP staff face long ramp curves; SMEs spend hours on repeat questions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4681728"/>
            <a:ext cx="73152" cy="73152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590288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Existing SharePoint search returns documents, not answers — and no audit trail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5449824"/>
            <a:ext cx="73152" cy="73152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58384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 internal lab to safely test FedRAMP-grade AI before production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1600200"/>
            <a:ext cx="3749039" cy="50292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636776"/>
            <a:ext cx="34747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WE'RE PROPOSING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874520"/>
            <a:ext cx="347471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12-week MVP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2103120"/>
            <a:ext cx="3749039" cy="406908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35424" y="2377440"/>
            <a:ext cx="73152" cy="7315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286000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Stand up an SEVP Innovation Lab on AWS GovCloud + Bedrock (Claude Sonnet 4.5)</a:t>
            </a:r>
          </a:p>
        </p:txBody>
      </p:sp>
      <p:sp>
        <p:nvSpPr>
          <p:cNvPr id="26" name="Oval 25"/>
          <p:cNvSpPr/>
          <p:nvPr/>
        </p:nvSpPr>
        <p:spPr>
          <a:xfrm>
            <a:off x="4535424" y="3145536"/>
            <a:ext cx="73152" cy="7315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054096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Deliver three live KM AI use cases: institutional Q&amp;A, policy/SOP synthesis, case-officer copilot</a:t>
            </a:r>
          </a:p>
        </p:txBody>
      </p:sp>
      <p:sp>
        <p:nvSpPr>
          <p:cNvPr id="28" name="Oval 27"/>
          <p:cNvSpPr/>
          <p:nvPr/>
        </p:nvSpPr>
        <p:spPr>
          <a:xfrm>
            <a:off x="4535424" y="3913632"/>
            <a:ext cx="73152" cy="7315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822192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FedRAMP High / IL4-5 boundary; CAC/PIV identity; full audit logging from day one</a:t>
            </a:r>
          </a:p>
        </p:txBody>
      </p:sp>
      <p:sp>
        <p:nvSpPr>
          <p:cNvPr id="30" name="Oval 29"/>
          <p:cNvSpPr/>
          <p:nvPr/>
        </p:nvSpPr>
        <p:spPr>
          <a:xfrm>
            <a:off x="4535424" y="4681728"/>
            <a:ext cx="73152" cy="7315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590288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Eval-first development with golden datasets and human-in-the-loop guardrails</a:t>
            </a:r>
          </a:p>
        </p:txBody>
      </p:sp>
      <p:sp>
        <p:nvSpPr>
          <p:cNvPr id="32" name="Oval 31"/>
          <p:cNvSpPr/>
          <p:nvPr/>
        </p:nvSpPr>
        <p:spPr>
          <a:xfrm>
            <a:off x="4535424" y="5449824"/>
            <a:ext cx="73152" cy="7315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358384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Mid-point Go/No-Go gate at Week 6; Demo Day + scale plan at Week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1600200"/>
            <a:ext cx="3749039" cy="502920"/>
          </a:xfrm>
          <a:prstGeom prst="rect">
            <a:avLst/>
          </a:prstGeom>
          <a:solidFill>
            <a:srgbClr val="D9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1636776"/>
            <a:ext cx="34747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DELIVERS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1874520"/>
            <a:ext cx="347471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Outcomes by Week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4464" y="2103120"/>
            <a:ext cx="3749039" cy="406908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49056" y="2377440"/>
            <a:ext cx="73152" cy="73152"/>
          </a:xfrm>
          <a:prstGeom prst="ellipse">
            <a:avLst/>
          </a:prstGeom>
          <a:solidFill>
            <a:srgbClr val="D97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2286000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25–40% time saved on document search &amp; synthesis for pilot users</a:t>
            </a:r>
          </a:p>
        </p:txBody>
      </p:sp>
      <p:sp>
        <p:nvSpPr>
          <p:cNvPr id="40" name="Oval 39"/>
          <p:cNvSpPr/>
          <p:nvPr/>
        </p:nvSpPr>
        <p:spPr>
          <a:xfrm>
            <a:off x="8449056" y="3145536"/>
            <a:ext cx="73152" cy="73152"/>
          </a:xfrm>
          <a:prstGeom prst="ellipse">
            <a:avLst/>
          </a:prstGeom>
          <a:solidFill>
            <a:srgbClr val="D97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7072" y="3054096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~30% faster onboarding ramp for new SEVP staff via institutional Q&amp;A</a:t>
            </a:r>
          </a:p>
        </p:txBody>
      </p:sp>
      <p:sp>
        <p:nvSpPr>
          <p:cNvPr id="42" name="Oval 41"/>
          <p:cNvSpPr/>
          <p:nvPr/>
        </p:nvSpPr>
        <p:spPr>
          <a:xfrm>
            <a:off x="8449056" y="3913632"/>
            <a:ext cx="73152" cy="73152"/>
          </a:xfrm>
          <a:prstGeom prst="ellipse">
            <a:avLst/>
          </a:prstGeom>
          <a:solidFill>
            <a:srgbClr val="D97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3822192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3 production-ready use cases with measured accuracy and adoption</a:t>
            </a:r>
          </a:p>
        </p:txBody>
      </p:sp>
      <p:sp>
        <p:nvSpPr>
          <p:cNvPr id="44" name="Oval 43"/>
          <p:cNvSpPr/>
          <p:nvPr/>
        </p:nvSpPr>
        <p:spPr>
          <a:xfrm>
            <a:off x="8449056" y="4681728"/>
            <a:ext cx="73152" cy="73152"/>
          </a:xfrm>
          <a:prstGeom prst="ellipse">
            <a:avLst/>
          </a:prstGeom>
          <a:solidFill>
            <a:srgbClr val="D97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4590288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Reusable Innovation Lab playbook — the flywheel for every future AI use case</a:t>
            </a:r>
          </a:p>
        </p:txBody>
      </p:sp>
      <p:sp>
        <p:nvSpPr>
          <p:cNvPr id="46" name="Oval 45"/>
          <p:cNvSpPr/>
          <p:nvPr/>
        </p:nvSpPr>
        <p:spPr>
          <a:xfrm>
            <a:off x="8449056" y="5449824"/>
            <a:ext cx="73152" cy="73152"/>
          </a:xfrm>
          <a:prstGeom prst="ellipse">
            <a:avLst/>
          </a:prstGeom>
          <a:solidFill>
            <a:srgbClr val="D97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5358384"/>
            <a:ext cx="333755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Clear path to ATO and Year-1 production scale (~$1.5–2.0M est.)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199632"/>
            <a:ext cx="2834640" cy="164592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204204"/>
            <a:ext cx="274320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12 weeks</a:t>
            </a:r>
            <a:r>
              <a:rPr sz="900" b="0" i="1">
                <a:solidFill>
                  <a:srgbClr val="FFFFFF"/>
                </a:solidFill>
                <a:latin typeface="Calibri"/>
              </a:rPr>
              <a:t>  —  MVP duration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6199632"/>
            <a:ext cx="2834640" cy="164592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6204204"/>
            <a:ext cx="274320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$450–650K</a:t>
            </a:r>
            <a:r>
              <a:rPr sz="900" b="0" i="1">
                <a:solidFill>
                  <a:srgbClr val="FFFFFF"/>
                </a:solidFill>
                <a:latin typeface="Calibri"/>
              </a:rPr>
              <a:t>  —  Labor ROM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6199632"/>
            <a:ext cx="2834640" cy="164592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6204204"/>
            <a:ext cx="274320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3 use cases</a:t>
            </a:r>
            <a:r>
              <a:rPr sz="900" b="0" i="1">
                <a:solidFill>
                  <a:srgbClr val="FFFFFF"/>
                </a:solidFill>
                <a:latin typeface="Calibri"/>
              </a:rPr>
              <a:t>  —  Live by Week 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6199632"/>
            <a:ext cx="2834640" cy="164592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6204204"/>
            <a:ext cx="274320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FedRAMP High</a:t>
            </a:r>
            <a:r>
              <a:rPr sz="900" b="0" i="1">
                <a:solidFill>
                  <a:srgbClr val="FFFFFF"/>
                </a:solidFill>
                <a:latin typeface="Calibri"/>
              </a:rPr>
              <a:t>  —  Security boundary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Changeis SEVP Innovation Lab MVP proposal (2026-04-23); Anthropic FedRAMP High program (2025); GSA OneGov Anthropic deal (2025).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Quantified value: 25–40% knowledge-worker time back, 30% faster onboarding, and a reusable lab that compounds across SEVP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Conservative-to-upside ranges based on McKinsey, Gartner and GAO benchmarks for federal generative-AI deployments.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siness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777240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508760"/>
            <a:ext cx="3566160" cy="402336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0020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B8B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965960"/>
            <a:ext cx="32461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Knowledge workers spend ~20% of their week searching for or synthesizing information.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1">
                <a:solidFill>
                  <a:srgbClr val="5A5A5A"/>
                </a:solidFill>
                <a:latin typeface="Calibri"/>
              </a:rPr>
              <a:t>McKinsey Global 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834640"/>
            <a:ext cx="32461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Federal generative-AI use cases grew 9× in one year (32 → 282 across 11 agencies).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1">
                <a:solidFill>
                  <a:srgbClr val="5A5A5A"/>
                </a:solidFill>
                <a:latin typeface="Calibri"/>
              </a:rPr>
              <a:t>GAO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3703320"/>
            <a:ext cx="32461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Gartner: by 2029, 60% of agencies will use AI agents for &gt;50% of citizen transactions.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1">
                <a:solidFill>
                  <a:srgbClr val="5A5A5A"/>
                </a:solidFill>
                <a:latin typeface="Calibri"/>
              </a:rPr>
              <a:t>Gartner Public Sector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572000"/>
            <a:ext cx="32461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Anthropic Claude is FedRAMP-High authorized and offered to all federal agencies via GSA OneGov.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1">
                <a:solidFill>
                  <a:srgbClr val="5A5A5A"/>
                </a:solidFill>
                <a:latin typeface="Calibri"/>
              </a:rPr>
              <a:t>Anthropic / GSA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724144"/>
            <a:ext cx="11247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ROUGH SIZING (illustrative)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If 200 SEVP knowledge-workers save 25% of ~6 hrs/week on search &amp; synthesis at a $90/hr loaded rate, that is ≈ $1.4M/year in recovered capacity — </a:t>
            </a:r>
            <a:r>
              <a:rPr sz="1000" b="0" i="1">
                <a:solidFill>
                  <a:srgbClr val="D97D2A"/>
                </a:solidFill>
                <a:latin typeface="Calibri"/>
              </a:rPr>
              <a:t>before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onboarding, retention, and risk-reduction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McKinsey State of AI 2025 (mckinsey.com/quantumblack); McKinsey Global Institute / Economic Potential of Generative AI; GAO-25-107653 Generative AI Use &amp; Management at Federal Agencies (Jul 2025); Gartner Public Sector AI (Sep 2025); Anthropic + GSA OneGov announcement (Aug 2025); Changeis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Federal and enterprise precedents have already proven this model — SEVP can move with high confidence, not from a standing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Five reference deployments across federal innovation labs, applied AI sprints, and enterprise knowledge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379476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FEDERAL INNOVATION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3794760" cy="1819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20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2060"/>
                </a:solidFill>
                <a:latin typeface="Calibri"/>
              </a:rPr>
              <a:t>GSA TTS — Centers of Excellence (AI CoE)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5A5A5A"/>
                </a:solidFill>
                <a:latin typeface="Calibri"/>
              </a:rPr>
              <a:t>What they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3520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222222"/>
                </a:solidFill>
                <a:latin typeface="Calibri"/>
              </a:rPr>
              <a:t>Stood up the federal IT-modernization CoE inside GSA/TTS to accelerate AI adoption across agencies and centralize re-usable 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B2A4A"/>
                </a:solidFill>
                <a:latin typeface="Calibri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64408"/>
            <a:ext cx="35204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1">
                <a:solidFill>
                  <a:srgbClr val="222222"/>
                </a:solidFill>
                <a:latin typeface="Calibri"/>
              </a:rPr>
              <a:t>Reusable AI playbooks, vendor-neutral methodology, and an active practice partnering with DoL, DHS and others.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481328"/>
            <a:ext cx="3794760" cy="329184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517904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FEDERAL APPLIED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1810512"/>
            <a:ext cx="3794760" cy="1819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865376"/>
            <a:ext cx="3520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2060"/>
                </a:solidFill>
                <a:latin typeface="Calibri"/>
              </a:rPr>
              <a:t>VA AI Tech Sprint + Innovation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58568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5A5A5A"/>
                </a:solidFill>
                <a:latin typeface="Calibri"/>
              </a:rPr>
              <a:t>What they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414016"/>
            <a:ext cx="3520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222222"/>
                </a:solidFill>
                <a:latin typeface="Calibri"/>
              </a:rPr>
              <a:t>Cohort-based 12-week tech sprints to apply AI to specific clinician workflows (notes, documentation, burnout reduction).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108960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8B8B"/>
                </a:solidFill>
                <a:latin typeface="Calibri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264408"/>
            <a:ext cx="35204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1">
                <a:solidFill>
                  <a:srgbClr val="222222"/>
                </a:solidFill>
                <a:latin typeface="Calibri"/>
              </a:rPr>
              <a:t>$1M prize pool drove industry partnerships; produced winners now scaling inside VHA — a direct analog for SEVP cohort cadence.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5" y="1481328"/>
            <a:ext cx="3794760" cy="329184"/>
          </a:xfrm>
          <a:prstGeom prst="rect">
            <a:avLst/>
          </a:prstGeom>
          <a:solidFill>
            <a:srgbClr val="D9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5" y="1517904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FEDERAL AGENTIC AI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5" y="1810512"/>
            <a:ext cx="3794760" cy="1819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5" y="1865376"/>
            <a:ext cx="3520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2060"/>
                </a:solidFill>
                <a:latin typeface="Calibri"/>
              </a:rPr>
              <a:t>DoD CDAO (formerly JAIC) + Anthropic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5" y="2258568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5A5A5A"/>
                </a:solidFill>
                <a:latin typeface="Calibri"/>
              </a:rPr>
              <a:t>What they 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5" y="2414016"/>
            <a:ext cx="3520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222222"/>
                </a:solidFill>
                <a:latin typeface="Calibri"/>
              </a:rPr>
              <a:t>CDAO selected Anthropic's Claude under a $200M ceiling agreement to support national-security AI workflows on FedRAMP-High infrastructure.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5" y="3108960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97D2A"/>
                </a:solidFill>
                <a:latin typeface="Calibri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5" y="3264408"/>
            <a:ext cx="35204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1">
                <a:solidFill>
                  <a:srgbClr val="222222"/>
                </a:solidFill>
                <a:latin typeface="Calibri"/>
              </a:rPr>
              <a:t>Validates the exact reference architecture (Claude on FedRAMP High) we are proposing for SEVP.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749039"/>
            <a:ext cx="3794760" cy="329184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785615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MOST DIRECTLY ANALOGOUS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4078223"/>
            <a:ext cx="3794760" cy="1819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133087"/>
            <a:ext cx="3520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2060"/>
                </a:solidFill>
                <a:latin typeface="Calibri"/>
              </a:rPr>
              <a:t>Anthropic + GSA OneGov ($1 deal)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526279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5A5A5A"/>
                </a:solidFill>
                <a:latin typeface="Calibri"/>
              </a:rPr>
              <a:t>What they built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681727"/>
            <a:ext cx="3520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222222"/>
                </a:solidFill>
                <a:latin typeface="Calibri"/>
              </a:rPr>
              <a:t>Claude for Government (FedRAMP High) and Claude for Enterprise made available to all three branches of government for $1 for one year (Aug 2025).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5376671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4C9A"/>
                </a:solidFill>
                <a:latin typeface="Calibri"/>
              </a:rP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532119"/>
            <a:ext cx="35204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1">
                <a:solidFill>
                  <a:srgbClr val="222222"/>
                </a:solidFill>
                <a:latin typeface="Calibri"/>
              </a:rPr>
              <a:t>Removes acquisition friction; SEVP can pilot the same model class we propose without bespoke procurement risk.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1927" y="3749039"/>
            <a:ext cx="3794760" cy="329184"/>
          </a:xfrm>
          <a:prstGeom prst="rect">
            <a:avLst/>
          </a:prstGeom>
          <a:solidFill>
            <a:srgbClr val="2D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7" y="3785615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ENTERPRISE KM REFERENCE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1927" y="4078223"/>
            <a:ext cx="3794760" cy="1819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7" y="4133087"/>
            <a:ext cx="3520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2060"/>
                </a:solidFill>
                <a:latin typeface="Calibri"/>
              </a:rPr>
              <a:t>JPMorgan COIN — Enterprise KM precedent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7" y="4526279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5A5A5A"/>
                </a:solidFill>
                <a:latin typeface="Calibri"/>
              </a:rPr>
              <a:t>What they built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7" y="4681727"/>
            <a:ext cx="3520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222222"/>
                </a:solidFill>
                <a:latin typeface="Calibri"/>
              </a:rPr>
              <a:t>Contract-intelligence platform applies NLP to interpret complex legal documents in seconds rather than hours.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7" y="5376671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D7D4A"/>
                </a:solidFill>
                <a:latin typeface="Calibri"/>
              </a:rPr>
              <a:t>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7" y="5532119"/>
            <a:ext cx="35204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1">
                <a:solidFill>
                  <a:srgbClr val="222222"/>
                </a:solidFill>
                <a:latin typeface="Calibri"/>
              </a:rPr>
              <a:t>≈ 360,000 hours of manual lawyer review saved per year — the canonical ROI case for KM-AI on dense regulatory text.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GSA TTS Centers of Excellence (coe.gsa.gov); VA AI Tech Sprint (news.va.gov); CRS DoD CDAO realignment (Sep 2025); Anthropic OneGov + Claude for Government (Aug 2025); JPMorgan COIN public reporting; Changeis analysis.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The MVP is delivered in three 4-week phases with parallel use-case tracks, gated reviews, and a Demo Day at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Discovery &amp; Lab stand-up → Build &amp; Pilot → Validate &amp; Scale; mid-point Go/No-Go at Week 6.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3749039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73152" cy="566928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806440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2060"/>
                </a:solidFill>
                <a:latin typeface="Calibri"/>
              </a:rPr>
              <a:t>Stakeholder rhythm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950" b="0" i="0">
                <a:solidFill>
                  <a:srgbClr val="222222"/>
                </a:solidFill>
                <a:latin typeface="Calibri"/>
              </a:rPr>
              <a:t>Weekly check-ins with SEVP sponsor + SMEs; bi-weekly steering committee.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5760720"/>
            <a:ext cx="3749039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5760720"/>
            <a:ext cx="73152" cy="566928"/>
          </a:xfrm>
          <a:prstGeom prst="rect">
            <a:avLst/>
          </a:prstGeom>
          <a:solidFill>
            <a:srgbClr val="D9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5806440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2060"/>
                </a:solidFill>
                <a:latin typeface="Calibri"/>
              </a:rPr>
              <a:t>Eval gates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950" b="0" i="0">
                <a:solidFill>
                  <a:srgbClr val="222222"/>
                </a:solidFill>
                <a:latin typeface="Calibri"/>
              </a:rPr>
              <a:t>Golden datasets, retrieval accuracy, factuality, and adoption metrics tracked at Weeks 4, 6, 8, 12.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5760720"/>
            <a:ext cx="3749039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5760720"/>
            <a:ext cx="73152" cy="566928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5806440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2060"/>
                </a:solidFill>
                <a:latin typeface="Calibri"/>
              </a:rPr>
              <a:t>Risk burn-down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950" b="0" i="0">
                <a:solidFill>
                  <a:srgbClr val="222222"/>
                </a:solidFill>
                <a:latin typeface="Calibri"/>
              </a:rPr>
              <a:t>ATO artifacts, PII redaction, role-based retrieval and audit logging delivered alongside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Changeis SEVP Innovation Lab MVP proposal (2026-04-23); NIST AI RMF (Govern–Map–Measure–Manage); Changeis delivery methodology.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The reference architecture is FedRAMP-High by design: AWS GovCloud + Bedrock (Claude Sonnet 4.5) + RAG + CAC/PIV identity +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One page, no surprises — every component already has a federal precedent and an ATO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82296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291840" cy="2743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FedRAMP HIGH BOUNDARY  |  AWS GovCloud (US)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7772400" cy="59436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USER &amp;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2423160" cy="2743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SEVP staff (CAC/PIV)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286000"/>
            <a:ext cx="2423160" cy="2743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SAML SSO via agency IdP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286000"/>
            <a:ext cx="2423160" cy="2743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304288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788920"/>
            <a:ext cx="7772400" cy="109728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APPLICATION &amp;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81528"/>
            <a:ext cx="24231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18104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B8B"/>
                </a:solidFill>
                <a:latin typeface="Calibri"/>
              </a:rPr>
              <a:t>Institutional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55848"/>
            <a:ext cx="2286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22222"/>
                </a:solidFill>
                <a:latin typeface="Calibri"/>
              </a:rPr>
              <a:t>Question answering over
SharePoint / Confluence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081528"/>
            <a:ext cx="24231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2" y="3118104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D2A"/>
                </a:solidFill>
                <a:latin typeface="Calibri"/>
              </a:rPr>
              <a:t>Policy / SOP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355848"/>
            <a:ext cx="2286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22222"/>
                </a:solidFill>
                <a:latin typeface="Calibri"/>
              </a:rPr>
              <a:t>Summarize + cite
policy chains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081528"/>
            <a:ext cx="24231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3118104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4C9A"/>
                </a:solidFill>
                <a:latin typeface="Calibri"/>
              </a:rPr>
              <a:t>Case-Officer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355848"/>
            <a:ext cx="2286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22222"/>
                </a:solidFill>
                <a:latin typeface="Calibri"/>
              </a:rPr>
              <a:t>Drafting + retrieval
(human-in-the-loop)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069080"/>
            <a:ext cx="7772400" cy="1280160"/>
          </a:xfrm>
          <a:prstGeom prst="rect">
            <a:avLst/>
          </a:prstGeom>
          <a:solidFill>
            <a:srgbClr val="F2F6FA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11480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AI MODELS, RAG &amp;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61688"/>
            <a:ext cx="178308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98264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Amazon Bedrock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636008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Managed inference
on FedRAMP 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70632" y="4361688"/>
            <a:ext cx="178308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43784" y="4398264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Claude Sonnet 4.5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3784" y="4636008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Frontier model via
Claude for Government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8304" y="4361688"/>
            <a:ext cx="178308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91456" y="4398264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Bedrock KB / OpenSearch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4636008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Vector + keyword
retrieval (RAG)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65976" y="4361688"/>
            <a:ext cx="178308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4398264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Source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9128" y="4636008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SharePoint, Confluence,
JIRA, Study-in-the-State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532120"/>
            <a:ext cx="7772400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778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CROSS-CUTTING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5586984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• Audit &amp; logging
(CloudTrail / Bedrock)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39" y="5586984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• PII redaction &amp; DLP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5586984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• Eval harness +
golden datasets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586984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• KMS encryption
(FIPS 140-2)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1508760"/>
            <a:ext cx="3017520" cy="47548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4272" y="1673352"/>
            <a:ext cx="2743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B8B"/>
                </a:solidFill>
                <a:latin typeface="Calibri"/>
              </a:rPr>
              <a:t>COMPLIANCE PILLAR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201168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CDDEE"/>
                </a:solidFill>
                <a:latin typeface="Calibri"/>
              </a:rPr>
              <a:t>Built-in, not bolted-on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34272" y="2468880"/>
            <a:ext cx="2688336" cy="566928"/>
          </a:xfrm>
          <a:prstGeom prst="rect">
            <a:avLst/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251460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FedRAMP 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274320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Anthropic Claude for Government already authorized.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34272" y="3090672"/>
            <a:ext cx="2688336" cy="566928"/>
          </a:xfrm>
          <a:prstGeom prst="rect">
            <a:avLst/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25712" y="3136392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DoD IL4 / IL5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25712" y="3364992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AWS GovCloud regions support IL4–IL5 workloads.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34272" y="3712464"/>
            <a:ext cx="2688336" cy="566928"/>
          </a:xfrm>
          <a:prstGeom prst="rect">
            <a:avLst/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25712" y="3758184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ATO path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25712" y="3986784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DoD/DHS-aligned package; reciprocity targeted.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34272" y="4334256"/>
            <a:ext cx="2688336" cy="566928"/>
          </a:xfrm>
          <a:prstGeom prst="rect">
            <a:avLst/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25712" y="4379976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Section 508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4608576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Accessibility tested on every UI surface.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34272" y="4956048"/>
            <a:ext cx="2688336" cy="566928"/>
          </a:xfrm>
          <a:prstGeom prst="rect">
            <a:avLst/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25712" y="5001768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OMB M-25-21 / M-25-22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5712" y="5230368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Aligned to acceleration + responsible-acquisition memos.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34272" y="5577840"/>
            <a:ext cx="2688336" cy="566928"/>
          </a:xfrm>
          <a:prstGeom prst="rect">
            <a:avLst/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25712" y="562356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NIST AI RMF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5712" y="585216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CDDEE"/>
                </a:solidFill>
                <a:latin typeface="Calibri"/>
              </a:rPr>
              <a:t>Govern–Map–Measure–Manage applied throughout.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Anthropic Claude for Government (FedRAMP High); AWS GovCloud documentation (IL4/IL5); OMB M-25-21 (Apr 2025); OMB M-25-22 (Apr 2025); NIST AI RMF 1.0 (NIST.gov).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Six discipline-grade practices we will apply on day one — drawn from NIST AI RMF, OMB guidance, and Changeis delivery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Each practice is observable, measurable, and tied to a specific deliverable.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7947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91056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Human-in-the-loop by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3429000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34290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Every high-impact output is reviewed by an authorized SEVP user before action; no autonomous decisions on rights-impacting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008B8B"/>
                </a:solidFill>
                <a:latin typeface="Calibri"/>
              </a:rPr>
              <a:t>Anchor: OMB M-25-21 (high-impact AI)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554480"/>
            <a:ext cx="37947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554480"/>
            <a:ext cx="411480" cy="411480"/>
          </a:xfrm>
          <a:prstGeom prst="rect">
            <a:avLst/>
          </a:prstGeom>
          <a:solidFill>
            <a:srgbClr val="D9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591056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62763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Eval-first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2148840"/>
            <a:ext cx="3429000" cy="9525"/>
          </a:xfrm>
          <a:prstGeom prst="rect">
            <a:avLst/>
          </a:prstGeom>
          <a:solidFill>
            <a:srgbClr val="D9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2267712"/>
            <a:ext cx="34290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Golden datasets and acceptance thresholds (factuality, retrieval accuracy, citation fidelity) are written before any code 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493008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D97D2A"/>
                </a:solidFill>
                <a:latin typeface="Calibri"/>
              </a:rPr>
              <a:t>Anchor: NIST AI RMF: Measure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6176" y="1554480"/>
            <a:ext cx="37947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6" y="1554480"/>
            <a:ext cx="411480" cy="41148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591056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162763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Privacy-by-design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49056" y="2148840"/>
            <a:ext cx="3429000" cy="9525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2267712"/>
            <a:ext cx="34290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Automated PII detection &amp; redaction; role-based retrieval; data-loss prevention controls inside the FedRAMP boundary.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3493008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4C9A"/>
                </a:solidFill>
                <a:latin typeface="Calibri"/>
              </a:rPr>
              <a:t>Anchor: OMB M-25-22 (privacy &amp; IP)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50792"/>
            <a:ext cx="37947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50792"/>
            <a:ext cx="411480" cy="411480"/>
          </a:xfrm>
          <a:prstGeom prst="rect">
            <a:avLst/>
          </a:prstGeom>
          <a:solidFill>
            <a:srgbClr val="2D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87368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123944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Reuse-or-buy posture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3429000" cy="9525"/>
          </a:xfrm>
          <a:prstGeom prst="rect">
            <a:avLst/>
          </a:prstGeom>
          <a:solidFill>
            <a:srgbClr val="2D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764024"/>
            <a:ext cx="34290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 NIH: leverage Bedrock primitives, GSA OneGov Claude pricing, and existing agency IdP rather than rebuilding.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2D7D4A"/>
                </a:solidFill>
                <a:latin typeface="Calibri"/>
              </a:rPr>
              <a:t>Anchor: OMB M-25-22 (acquisition)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4050792"/>
            <a:ext cx="37947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61688" y="4050792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4087368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4608" y="4123944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Continuous ATO via DevSecOps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44568" y="4645152"/>
            <a:ext cx="3429000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4568" y="4764024"/>
            <a:ext cx="34290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Security artifacts, SBOMs, and control evidence generated by the pipeline — not assembled by hand at the end.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598932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B2A4A"/>
                </a:solidFill>
                <a:latin typeface="Calibri"/>
              </a:rPr>
              <a:t>Anchor: DHS / DoD reciprocity guidance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6" y="4050792"/>
            <a:ext cx="37947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66176" y="4050792"/>
            <a:ext cx="411480" cy="4114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6" y="4087368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69096" y="4123944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Outcome metrics from day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49056" y="4645152"/>
            <a:ext cx="3429000" cy="9525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9056" y="4764024"/>
            <a:ext cx="34290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Time saved, accuracy, adoption, and SME satisfaction are instrumented before launch and reviewed weekly.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5989320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002060"/>
                </a:solidFill>
                <a:latin typeface="Calibri"/>
              </a:rPr>
              <a:t>Anchor: McKinsey State of AI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NIST AI RMF 1.0 (NIST); OMB M-25-21 &amp; M-25-22 (Apr 2025) replacing M-24-10/M-24-18; McKinsey State of AI 2025; Changeis delivery practice.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2060"/>
                </a:solidFill>
                <a:latin typeface="Calibri"/>
              </a:rPr>
              <a:t>Greenlight the 12-week MVP today — Week-6 Go/No-Go protects the investment, and Year-1 production scale follows on demonstrated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Three concrete asks to begin within the next two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525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stmen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2606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160520"/>
            <a:ext cx="1127455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245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ASK — three decisions to start within two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365760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594360" cy="141732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594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6344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02060"/>
                </a:solidFill>
                <a:latin typeface="Calibri"/>
              </a:rPr>
              <a:t>Sponsor designated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28346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Identify the SEVP executive sponsor accountable for outcomes and unblocking access to source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572000"/>
            <a:ext cx="365760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4572000"/>
            <a:ext cx="594360" cy="141732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4983480"/>
            <a:ext cx="594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66344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02060"/>
                </a:solidFill>
                <a:latin typeface="Calibri"/>
              </a:rPr>
              <a:t>Knowledge SMEs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029200"/>
            <a:ext cx="28346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Name 4–6 SEVP SMEs (policy, case-handling, IT) for SME interviews, golden-dataset curation, and pilot evaluation.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572000"/>
            <a:ext cx="365760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572000"/>
            <a:ext cx="594360" cy="141732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983480"/>
            <a:ext cx="594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66344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02060"/>
                </a:solidFill>
                <a:latin typeface="Calibri"/>
              </a:rPr>
              <a:t>Initial use case selected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29200"/>
            <a:ext cx="28346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Confirm Use Case 1 priority (institutional Q&amp;A vs. policy synthesis vs. case-officer copilot) for Week-1 kickoff.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74552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062472"/>
            <a:ext cx="109728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Contact: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Varun Malhotra, President — Changeis, Inc.   </a:t>
            </a:r>
            <a:r>
              <a:rPr sz="1100" b="0" i="1">
                <a:solidFill>
                  <a:srgbClr val="CCDDEE"/>
                </a:solidFill>
                <a:latin typeface="Calibri"/>
              </a:rPr>
              <a:t>varun@changeis.com   </a:t>
            </a:r>
            <a:r>
              <a:rPr sz="1100" b="0" i="1">
                <a:solidFill>
                  <a:srgbClr val="CCDDEE"/>
                </a:solidFill>
                <a:latin typeface="Calibri"/>
              </a:rPr>
              <a:t>•   www.changeis.com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Source: Changeis SEVP Innovation Lab MVP proposal (2026-04-23); McKinsey State of AI 2025; Anthropic + GSA OneGov (2025); Changeis ROM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647688"/>
            <a:ext cx="9601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A5A5A"/>
                </a:solidFill>
                <a:latin typeface="Calibri"/>
              </a:rPr>
              <a:t>Changeis Confidential — Executive Presentation — April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647688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